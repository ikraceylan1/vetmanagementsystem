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1" r:id="rId4"/>
    <p:sldId id="264" r:id="rId5"/>
    <p:sldId id="265" r:id="rId6"/>
    <p:sldId id="258" r:id="rId7"/>
    <p:sldId id="269" r:id="rId8"/>
    <p:sldId id="268" r:id="rId9"/>
    <p:sldId id="267" r:id="rId10"/>
    <p:sldId id="270" r:id="rId11"/>
    <p:sldId id="266" r:id="rId12"/>
    <p:sldId id="259" r:id="rId13"/>
    <p:sldId id="271" r:id="rId14"/>
    <p:sldId id="272" r:id="rId15"/>
    <p:sldId id="274" r:id="rId16"/>
    <p:sldId id="273" r:id="rId17"/>
    <p:sldId id="275" r:id="rId18"/>
    <p:sldId id="276" r:id="rId19"/>
    <p:sldId id="282" r:id="rId20"/>
    <p:sldId id="279" r:id="rId21"/>
    <p:sldId id="280" r:id="rId22"/>
    <p:sldId id="277" r:id="rId23"/>
    <p:sldId id="285" r:id="rId24"/>
    <p:sldId id="287" r:id="rId25"/>
    <p:sldId id="286" r:id="rId26"/>
    <p:sldId id="288" r:id="rId27"/>
    <p:sldId id="289" r:id="rId2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1EC"/>
    <a:srgbClr val="7B5E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0322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41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434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4184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811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413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87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112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861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197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596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0316A-CCA0-4456-AEBC-20A865E3328B}" type="datetimeFigureOut">
              <a:rPr lang="tr-TR" smtClean="0"/>
              <a:t>29.04.2026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93DAE-43A6-437A-9163-6FA04045C23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060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26023" y="1272023"/>
            <a:ext cx="6749563" cy="1661744"/>
          </a:xfrm>
        </p:spPr>
        <p:txBody>
          <a:bodyPr>
            <a:normAutofit/>
          </a:bodyPr>
          <a:lstStyle/>
          <a:p>
            <a:r>
              <a:rPr lang="nb-NO" sz="4800" b="1" dirty="0"/>
              <a:t>Veteriner Klinik Yönetim ve Stok Takip Sistemi</a:t>
            </a:r>
            <a:endParaRPr lang="tr-TR" sz="4800" dirty="0"/>
          </a:p>
        </p:txBody>
      </p:sp>
      <p:pic>
        <p:nvPicPr>
          <p:cNvPr id="11" name="Resim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3" y="-8820"/>
            <a:ext cx="5143500" cy="6858000"/>
          </a:xfrm>
          <a:prstGeom prst="rect">
            <a:avLst/>
          </a:prstGeom>
        </p:spPr>
      </p:pic>
      <p:cxnSp>
        <p:nvCxnSpPr>
          <p:cNvPr id="13" name="Düz Bağlayıcı 12"/>
          <p:cNvCxnSpPr/>
          <p:nvPr/>
        </p:nvCxnSpPr>
        <p:spPr>
          <a:xfrm>
            <a:off x="308348" y="4957022"/>
            <a:ext cx="1" cy="14331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308346" y="4957019"/>
            <a:ext cx="4199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/>
              <a:t>İkra Ceylan</a:t>
            </a:r>
          </a:p>
          <a:p>
            <a:r>
              <a:rPr lang="tr-TR" sz="2000" dirty="0"/>
              <a:t>No:360125030</a:t>
            </a:r>
          </a:p>
        </p:txBody>
      </p:sp>
      <p:sp>
        <p:nvSpPr>
          <p:cNvPr id="21" name="Dikdörtgen 20"/>
          <p:cNvSpPr/>
          <p:nvPr/>
        </p:nvSpPr>
        <p:spPr>
          <a:xfrm>
            <a:off x="308344" y="5598041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2000" b="1" dirty="0"/>
              <a:t>Marmara Üniversitesi</a:t>
            </a:r>
          </a:p>
          <a:p>
            <a:r>
              <a:rPr lang="tr-TR" sz="2000" b="1" dirty="0"/>
              <a:t>Bilgisayar Programcılığı</a:t>
            </a:r>
          </a:p>
        </p:txBody>
      </p:sp>
    </p:spTree>
    <p:extLst>
      <p:ext uri="{BB962C8B-B14F-4D97-AF65-F5344CB8AC3E}">
        <p14:creationId xmlns:p14="http://schemas.microsoft.com/office/powerpoint/2010/main" val="269797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push dir="u"/>
      </p:transition>
    </mc:Choice>
    <mc:Fallback xmlns=""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62420" y="330203"/>
            <a:ext cx="10046677" cy="1325563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>Sorun: Veteriner Kliniklerinin Karşılaştığı Zorluklar</a:t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20" name="Shape 1"/>
          <p:cNvSpPr/>
          <p:nvPr/>
        </p:nvSpPr>
        <p:spPr>
          <a:xfrm>
            <a:off x="147715" y="1799350"/>
            <a:ext cx="5138047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21" name="Shape 2"/>
          <p:cNvSpPr/>
          <p:nvPr/>
        </p:nvSpPr>
        <p:spPr>
          <a:xfrm>
            <a:off x="117234" y="1799350"/>
            <a:ext cx="97759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22" name="Text 3"/>
          <p:cNvSpPr/>
          <p:nvPr/>
        </p:nvSpPr>
        <p:spPr>
          <a:xfrm>
            <a:off x="496449" y="2056640"/>
            <a:ext cx="2810281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Manuel Ka</a:t>
            </a:r>
            <a:r>
              <a:rPr lang="tr-TR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y</a:t>
            </a: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ıt Sistemi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390678" y="2447194"/>
            <a:ext cx="4652119" cy="108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Hasta kayıtları ve tedavi geçmişi kağıt üzerinde tutuluyor. Bilgi erişimi zaman alıcı ve hatalara açık.</a:t>
            </a:r>
            <a:endParaRPr lang="en-US" sz="17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15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 advTm="1000">
        <p:fade/>
      </p:transition>
    </mc:Choice>
    <mc:Fallback xmlns="">
      <p:transition advTm="1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62420" y="330203"/>
            <a:ext cx="10046677" cy="1325563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>Sorun: Veteriner Kliniklerinin Karşılaştığı Zorluklar</a:t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5" name="Shape 1"/>
          <p:cNvSpPr/>
          <p:nvPr/>
        </p:nvSpPr>
        <p:spPr>
          <a:xfrm>
            <a:off x="147715" y="1799350"/>
            <a:ext cx="5138047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17234" y="1799350"/>
            <a:ext cx="97759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7" name="Text 3"/>
          <p:cNvSpPr/>
          <p:nvPr/>
        </p:nvSpPr>
        <p:spPr>
          <a:xfrm>
            <a:off x="496449" y="2056640"/>
            <a:ext cx="2810281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Manuel Ka</a:t>
            </a:r>
            <a:r>
              <a:rPr lang="tr-TR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y</a:t>
            </a: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ıt Sistemi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90678" y="2447194"/>
            <a:ext cx="4652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Hasta kayıtları ve tedavi geçmişi kağıt üzerinde tutuluyor. Bilgi erişimi zaman alıcı ve hatalara açık.</a:t>
            </a:r>
            <a:endParaRPr lang="en-US" sz="17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117235" y="3820849"/>
            <a:ext cx="5138047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7234" y="3790369"/>
            <a:ext cx="97759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5" name="Text 11"/>
          <p:cNvSpPr/>
          <p:nvPr/>
        </p:nvSpPr>
        <p:spPr>
          <a:xfrm>
            <a:off x="465969" y="4078139"/>
            <a:ext cx="2273361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Veri Kaybı Riski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65969" y="4568558"/>
            <a:ext cx="4652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Fiziksel kayıtlar zarar görebilir veya kaybolabilir. Yedekleme sistemi bulunmuyor.</a:t>
            </a:r>
            <a:endParaRPr lang="en-US" sz="17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219402"/>
      </p:ext>
    </p:extLst>
  </p:cSld>
  <p:clrMapOvr>
    <a:masterClrMapping/>
  </p:clrMapOvr>
  <p:transition advTm="300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62420" y="330203"/>
            <a:ext cx="10046677" cy="1325563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>Sorun: Veteriner Kliniklerinin Karşılaştığı Zorluklar</a:t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5" name="Shape 1"/>
          <p:cNvSpPr/>
          <p:nvPr/>
        </p:nvSpPr>
        <p:spPr>
          <a:xfrm>
            <a:off x="147715" y="1799350"/>
            <a:ext cx="5138047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17234" y="1799350"/>
            <a:ext cx="97759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7" name="Text 3"/>
          <p:cNvSpPr/>
          <p:nvPr/>
        </p:nvSpPr>
        <p:spPr>
          <a:xfrm>
            <a:off x="496449" y="2056640"/>
            <a:ext cx="2810281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Manuel Ka</a:t>
            </a:r>
            <a:r>
              <a:rPr lang="tr-TR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y</a:t>
            </a: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ıt Sistemi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90678" y="2447194"/>
            <a:ext cx="4652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Hasta kayıtları ve tedavi geçmişi kağıt üzerinde tutuluyor. Bilgi erişimi zaman alıcı ve hatalara açık.</a:t>
            </a:r>
            <a:endParaRPr lang="en-US" sz="17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117235" y="3820849"/>
            <a:ext cx="5138047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7234" y="3790369"/>
            <a:ext cx="97759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5" name="Text 11"/>
          <p:cNvSpPr/>
          <p:nvPr/>
        </p:nvSpPr>
        <p:spPr>
          <a:xfrm>
            <a:off x="465969" y="4078139"/>
            <a:ext cx="2273361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Veri Kaybı Riski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65969" y="4568558"/>
            <a:ext cx="4652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Fiziksel kayıtlar zarar görebilir veya kaybolabilir. Yedekleme sistemi bulunmuyor.</a:t>
            </a:r>
            <a:endParaRPr lang="en-US" sz="17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6782473" y="1799350"/>
            <a:ext cx="513814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8" name="Shape 6"/>
          <p:cNvSpPr/>
          <p:nvPr/>
        </p:nvSpPr>
        <p:spPr>
          <a:xfrm>
            <a:off x="6751991" y="1799350"/>
            <a:ext cx="97759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9" name="Text 7"/>
          <p:cNvSpPr/>
          <p:nvPr/>
        </p:nvSpPr>
        <p:spPr>
          <a:xfrm>
            <a:off x="7131203" y="2056640"/>
            <a:ext cx="3177893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Stok Yönetimi Eksikliği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7131207" y="2547060"/>
            <a:ext cx="46522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ve malzeme stokları takip edilmiyor. Stok bitişleri fark edilmeden kayıplar yaşanıyor.</a:t>
            </a:r>
            <a:endParaRPr lang="en-US" sz="17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200206"/>
      </p:ext>
    </p:extLst>
  </p:cSld>
  <p:clrMapOvr>
    <a:masterClrMapping/>
  </p:clrMapOvr>
  <p:transition advTm="300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62420" y="330203"/>
            <a:ext cx="10046677" cy="1325563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>Sorun: Veteriner Kliniklerinin Karşılaştığı Zorluklar</a:t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5" name="Shape 1"/>
          <p:cNvSpPr/>
          <p:nvPr/>
        </p:nvSpPr>
        <p:spPr>
          <a:xfrm>
            <a:off x="147715" y="1799350"/>
            <a:ext cx="5138047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17234" y="1799350"/>
            <a:ext cx="97759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7" name="Text 3"/>
          <p:cNvSpPr/>
          <p:nvPr/>
        </p:nvSpPr>
        <p:spPr>
          <a:xfrm>
            <a:off x="496449" y="2056640"/>
            <a:ext cx="2810281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Manuel Ka</a:t>
            </a:r>
            <a:r>
              <a:rPr lang="tr-TR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y</a:t>
            </a: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ıt Sistemi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90678" y="2447194"/>
            <a:ext cx="4652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Hasta kayıtları ve tedavi geçmişi kağıt üzerinde tutuluyor. Bilgi erişimi zaman alıcı ve hatalara açık.</a:t>
            </a:r>
            <a:endParaRPr lang="en-US" sz="17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117235" y="3820849"/>
            <a:ext cx="5138047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7234" y="3790369"/>
            <a:ext cx="97759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5" name="Text 11"/>
          <p:cNvSpPr/>
          <p:nvPr/>
        </p:nvSpPr>
        <p:spPr>
          <a:xfrm>
            <a:off x="465969" y="4078139"/>
            <a:ext cx="2273361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Veri Kaybı Riski</a:t>
            </a:r>
            <a:endParaRPr lang="en-US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65969" y="4568558"/>
            <a:ext cx="4652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Fiziksel kayıtlar zarar görebilir veya kaybolabilir. Yedekleme sistemi bulunmuyor.</a:t>
            </a:r>
            <a:endParaRPr lang="en-US" sz="17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6782473" y="1799350"/>
            <a:ext cx="513814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8" name="Shape 6"/>
          <p:cNvSpPr/>
          <p:nvPr/>
        </p:nvSpPr>
        <p:spPr>
          <a:xfrm>
            <a:off x="6751991" y="1799350"/>
            <a:ext cx="97759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9" name="Text 7"/>
          <p:cNvSpPr/>
          <p:nvPr/>
        </p:nvSpPr>
        <p:spPr>
          <a:xfrm>
            <a:off x="7131203" y="2056640"/>
            <a:ext cx="3177893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Stok Yönetimi Eksikliği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7131207" y="2547060"/>
            <a:ext cx="46522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ve malzeme stokları takip edilmiyor. Stok bitişleri fark edilmeden kayıplar yaşanıyor.</a:t>
            </a:r>
            <a:endParaRPr lang="en-US" sz="17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782473" y="3820849"/>
            <a:ext cx="513814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751991" y="3820849"/>
            <a:ext cx="97759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23" name="Text 15"/>
          <p:cNvSpPr/>
          <p:nvPr/>
        </p:nvSpPr>
        <p:spPr>
          <a:xfrm>
            <a:off x="7131203" y="4078139"/>
            <a:ext cx="2498379" cy="35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4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Raporlama Zorluğu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131207" y="4399187"/>
            <a:ext cx="46522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17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Aylık gelir/gider ve hasta istatistikleri manuel hesaplanıyor. Zaman kaybı ve hata riski yüksek.</a:t>
            </a:r>
            <a:endParaRPr lang="en-US" sz="17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5684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61695" y="143873"/>
            <a:ext cx="6868463" cy="44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1"/>
              </a:lnSpc>
            </a:pPr>
            <a:r>
              <a:rPr lang="en-US" sz="39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Veritabanı Tasarımı: 6 Temel Tablo</a:t>
            </a:r>
            <a:endParaRPr lang="en-US" sz="39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1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05979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8" name="Text 3"/>
          <p:cNvSpPr/>
          <p:nvPr/>
        </p:nvSpPr>
        <p:spPr>
          <a:xfrm>
            <a:off x="902640" y="1332327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38427" y="1772262"/>
            <a:ext cx="5045876" cy="21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MusteriID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,Pet Adı,Tür,Cins ve Kilo bilgi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47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"/>
    </mc:Choice>
    <mc:Fallback xmlns="">
      <p:transition advTm="5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61695" y="143873"/>
            <a:ext cx="6868463" cy="44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1"/>
              </a:lnSpc>
            </a:pPr>
            <a:r>
              <a:rPr lang="en-US" sz="39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Veritabanı Tasarımı: 6 Temel Tablo</a:t>
            </a:r>
            <a:endParaRPr lang="en-US" sz="39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1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05979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8" name="Text 3"/>
          <p:cNvSpPr/>
          <p:nvPr/>
        </p:nvSpPr>
        <p:spPr>
          <a:xfrm>
            <a:off x="902640" y="1332327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38427" y="1772262"/>
            <a:ext cx="5045876" cy="21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MusteriID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,Pet Adı,Tür,Cins ve Kilo bilgi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707387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913365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13" name="Text 7"/>
          <p:cNvSpPr/>
          <p:nvPr/>
        </p:nvSpPr>
        <p:spPr>
          <a:xfrm>
            <a:off x="7610025" y="1342498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404050" y="1739746"/>
            <a:ext cx="5045876" cy="63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ID, 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adı,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iyatı,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tok miktarı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 Minimum 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eşik değeri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772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 advTm="50">
        <p:fade/>
      </p:transition>
    </mc:Choice>
    <mc:Fallback xmlns="">
      <p:transition advTm="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61695" y="143873"/>
            <a:ext cx="6868463" cy="44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1"/>
              </a:lnSpc>
            </a:pPr>
            <a:r>
              <a:rPr lang="en-US" sz="39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Veritabanı Tasarımı: 6 Temel Tablo</a:t>
            </a:r>
            <a:endParaRPr lang="en-US" sz="39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1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05979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8" name="Text 3"/>
          <p:cNvSpPr/>
          <p:nvPr/>
        </p:nvSpPr>
        <p:spPr>
          <a:xfrm>
            <a:off x="902640" y="1332327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38427" y="1772262"/>
            <a:ext cx="5045876" cy="21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MusteriID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,Pet Adı,Tür,Cins ve Kilo bilgi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707387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913365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13" name="Text 7"/>
          <p:cNvSpPr/>
          <p:nvPr/>
        </p:nvSpPr>
        <p:spPr>
          <a:xfrm>
            <a:off x="7610025" y="1342498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404050" y="1739746"/>
            <a:ext cx="5045876" cy="21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ID, 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adı,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iyatı,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tok miktarı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 Minimum 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eşik değeri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1" y="3065733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205979" y="327171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18" name="Text 11"/>
          <p:cNvSpPr/>
          <p:nvPr/>
        </p:nvSpPr>
        <p:spPr>
          <a:xfrm>
            <a:off x="902640" y="3320654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Veteri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nerler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338427" y="3750415"/>
            <a:ext cx="5045876" cy="64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Veteriner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ID,Veteriner Adı,Soyadı,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uzmanlık alanı ve</a:t>
            </a:r>
            <a:endParaRPr lang="tr-TR" sz="1551" dirty="0">
              <a:solidFill>
                <a:srgbClr val="27252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iletişim bilgileri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02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 advTm="50">
        <p:fade/>
      </p:transition>
    </mc:Choice>
    <mc:Fallback xmlns="">
      <p:transition advTm="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61695" y="143873"/>
            <a:ext cx="6868463" cy="44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1"/>
              </a:lnSpc>
            </a:pPr>
            <a:r>
              <a:rPr lang="en-US" sz="39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Veritabanı Tasarımı: 6 Temel Tablo</a:t>
            </a:r>
            <a:endParaRPr lang="en-US" sz="39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1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05979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8" name="Text 3"/>
          <p:cNvSpPr/>
          <p:nvPr/>
        </p:nvSpPr>
        <p:spPr>
          <a:xfrm>
            <a:off x="902640" y="1332327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38427" y="1772262"/>
            <a:ext cx="5045876" cy="21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MusteriID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,Pet Adı,Tür,Cins ve Kilo bilgi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707387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913365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13" name="Text 7"/>
          <p:cNvSpPr/>
          <p:nvPr/>
        </p:nvSpPr>
        <p:spPr>
          <a:xfrm>
            <a:off x="7610025" y="1342498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404050" y="1739746"/>
            <a:ext cx="5045876" cy="21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ID, 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adı,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iyatı,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tok miktarı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 Minimum 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eşik değeri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1" y="3065733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205979" y="327171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18" name="Text 11"/>
          <p:cNvSpPr/>
          <p:nvPr/>
        </p:nvSpPr>
        <p:spPr>
          <a:xfrm>
            <a:off x="902640" y="3320654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Veteri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nerler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338427" y="3750415"/>
            <a:ext cx="5045876" cy="64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Veteriner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ID,Veteriner Adı,Soyadı,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uzmanlık alanı ve</a:t>
            </a:r>
            <a:endParaRPr lang="tr-TR" sz="1551" dirty="0">
              <a:solidFill>
                <a:srgbClr val="27252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iletişim bilgileri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6707387" y="3065733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913365" y="327171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23" name="Text 15"/>
          <p:cNvSpPr/>
          <p:nvPr/>
        </p:nvSpPr>
        <p:spPr>
          <a:xfrm>
            <a:off x="7610025" y="3315458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Muayene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158707" y="3745485"/>
            <a:ext cx="4894571" cy="69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Muayene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ID, PetID, VeterinerID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Teşhis, Muayene Ücreti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 Muayene Tarihi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35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 advTm="50">
        <p:fade/>
      </p:transition>
    </mc:Choice>
    <mc:Fallback xmlns="">
      <p:transition advTm="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61695" y="143873"/>
            <a:ext cx="6868463" cy="44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1"/>
              </a:lnSpc>
            </a:pPr>
            <a:r>
              <a:rPr lang="en-US" sz="39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Veritabanı Tasarımı: 6 Temel Tablo</a:t>
            </a:r>
            <a:endParaRPr lang="en-US" sz="39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1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05979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8" name="Text 3"/>
          <p:cNvSpPr/>
          <p:nvPr/>
        </p:nvSpPr>
        <p:spPr>
          <a:xfrm>
            <a:off x="902640" y="1332327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38427" y="1772262"/>
            <a:ext cx="5045876" cy="21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MusteriID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,Pet Adı,Tür,Cins ve Kilo bilgi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707387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913365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13" name="Text 7"/>
          <p:cNvSpPr/>
          <p:nvPr/>
        </p:nvSpPr>
        <p:spPr>
          <a:xfrm>
            <a:off x="7610025" y="1342498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404050" y="1739746"/>
            <a:ext cx="5045876" cy="21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ID, 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adı,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iyatı,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tok miktarı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 Minimum 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eşik değeri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1" y="3065733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205979" y="327171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18" name="Text 11"/>
          <p:cNvSpPr/>
          <p:nvPr/>
        </p:nvSpPr>
        <p:spPr>
          <a:xfrm>
            <a:off x="902640" y="3320654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Veteri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nerler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338427" y="3750415"/>
            <a:ext cx="5045876" cy="64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Veteriner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ID,Veteriner Adı,Soyadı,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uzmanlık alanı ve</a:t>
            </a:r>
            <a:endParaRPr lang="tr-TR" sz="1551" dirty="0">
              <a:solidFill>
                <a:srgbClr val="27252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iletişim bilgileri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6707387" y="3065733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913365" y="327171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23" name="Text 15"/>
          <p:cNvSpPr/>
          <p:nvPr/>
        </p:nvSpPr>
        <p:spPr>
          <a:xfrm>
            <a:off x="7610025" y="3315458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Muayene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158707" y="3745485"/>
            <a:ext cx="4894571" cy="69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Muayene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ID, PetID, VeterinerID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Teşhis, Muayene Ücreti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 Muayene Tarihi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1" y="5132182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205979" y="5338160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28" name="Text 19"/>
          <p:cNvSpPr/>
          <p:nvPr/>
        </p:nvSpPr>
        <p:spPr>
          <a:xfrm>
            <a:off x="902640" y="5400110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Müşteriler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338424" y="5813909"/>
            <a:ext cx="4924915" cy="63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MusteriID,Musteri Adı,Soyadı,Kayıt Tarihi ve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iletişim bilgileri(email,telefon no,adres)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39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 advTm="50">
        <p:fade/>
      </p:transition>
    </mc:Choice>
    <mc:Fallback xmlns="">
      <p:transition advTm="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61695" y="143873"/>
            <a:ext cx="6868463" cy="449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1"/>
              </a:lnSpc>
            </a:pPr>
            <a:r>
              <a:rPr lang="en-US" sz="39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Veritabanı Tasarımı: 6 Temel Tablo</a:t>
            </a:r>
            <a:endParaRPr lang="en-US" sz="39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1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05979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8" name="Text 3"/>
          <p:cNvSpPr/>
          <p:nvPr/>
        </p:nvSpPr>
        <p:spPr>
          <a:xfrm>
            <a:off x="902640" y="1332327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38427" y="1772262"/>
            <a:ext cx="5045876" cy="21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PetID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MusteriID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,Pet Adı,Tür,Cins ve Kilo bilgi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6707387" y="99928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913365" y="120526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13" name="Text 7"/>
          <p:cNvSpPr/>
          <p:nvPr/>
        </p:nvSpPr>
        <p:spPr>
          <a:xfrm>
            <a:off x="7610025" y="1342497"/>
            <a:ext cx="2044867" cy="391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404050" y="1739746"/>
            <a:ext cx="5045876" cy="21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ID, 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İlaç adı,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iyatı,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tok miktarı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 Minimum 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eşik değeri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1" y="3065733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205979" y="327171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18" name="Text 11"/>
          <p:cNvSpPr/>
          <p:nvPr/>
        </p:nvSpPr>
        <p:spPr>
          <a:xfrm>
            <a:off x="902640" y="3320651"/>
            <a:ext cx="2044867" cy="37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Veteri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nerler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338427" y="3750415"/>
            <a:ext cx="5045876" cy="64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Veteriner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ID,Veteriner Adı,Soyadı,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uzmanlık alanı ve</a:t>
            </a:r>
            <a:endParaRPr lang="tr-TR" sz="1551" dirty="0">
              <a:solidFill>
                <a:srgbClr val="27252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iletişim bilgileri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6707387" y="3065733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913365" y="3271712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23" name="Text 15"/>
          <p:cNvSpPr/>
          <p:nvPr/>
        </p:nvSpPr>
        <p:spPr>
          <a:xfrm>
            <a:off x="7610025" y="3315458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Muayene</a:t>
            </a: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158707" y="3745485"/>
            <a:ext cx="4894571" cy="69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Muayene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ID, PetID, VeterinerID</a:t>
            </a:r>
            <a:r>
              <a:rPr lang="en-US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</a:t>
            </a: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Teşhis, Muayene Ücreti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 Muayene Tarihi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1" y="5132182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205979" y="5338160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28" name="Text 19"/>
          <p:cNvSpPr/>
          <p:nvPr/>
        </p:nvSpPr>
        <p:spPr>
          <a:xfrm>
            <a:off x="902640" y="5400110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Müşteriler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338424" y="5813909"/>
            <a:ext cx="4924915" cy="63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MusteriID,Musteri Adı,Soyadı,Kayıt Tarihi ve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iletişim bilgileri(email,telefon no,adres)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6707387" y="5169645"/>
            <a:ext cx="5385427" cy="1373463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6913365" y="5338160"/>
            <a:ext cx="490683" cy="431961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</p:sp>
      <p:sp>
        <p:nvSpPr>
          <p:cNvPr id="33" name="Text 23"/>
          <p:cNvSpPr/>
          <p:nvPr/>
        </p:nvSpPr>
        <p:spPr>
          <a:xfrm>
            <a:off x="7610025" y="5376362"/>
            <a:ext cx="2044867" cy="22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tr-TR" sz="1951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Randevular</a:t>
            </a:r>
            <a:endParaRPr lang="en-US" sz="19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7158710" y="5770117"/>
            <a:ext cx="4465129" cy="64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RandevuID, PetID, VeterinerID, Randevu Tarihi ve</a:t>
            </a:r>
          </a:p>
          <a:p>
            <a:pPr>
              <a:lnSpc>
                <a:spcPts val="2300"/>
              </a:lnSpc>
            </a:pPr>
            <a:r>
              <a:rPr lang="tr-TR" sz="155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Randevu durum bilgisi</a:t>
            </a:r>
            <a:endParaRPr lang="en-US" sz="155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97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" y="0"/>
            <a:ext cx="12182416" cy="583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4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" y="0"/>
            <a:ext cx="12182416" cy="5837275"/>
          </a:xfrm>
          <a:prstGeom prst="rect">
            <a:avLst/>
          </a:prstGeom>
        </p:spPr>
      </p:pic>
      <p:sp>
        <p:nvSpPr>
          <p:cNvPr id="27" name="Yuvarlatılmış Dikdörtgen 26"/>
          <p:cNvSpPr/>
          <p:nvPr/>
        </p:nvSpPr>
        <p:spPr>
          <a:xfrm>
            <a:off x="7591652" y="85065"/>
            <a:ext cx="4146697" cy="1041991"/>
          </a:xfrm>
          <a:prstGeom prst="roundRect">
            <a:avLst/>
          </a:prstGeom>
          <a:solidFill>
            <a:srgbClr val="7B5E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  <p:cxnSp>
        <p:nvCxnSpPr>
          <p:cNvPr id="28" name="Eğri Bağlayıcı 27"/>
          <p:cNvCxnSpPr/>
          <p:nvPr/>
        </p:nvCxnSpPr>
        <p:spPr>
          <a:xfrm flipV="1">
            <a:off x="4763390" y="265818"/>
            <a:ext cx="2732567" cy="680484"/>
          </a:xfrm>
          <a:prstGeom prst="curvedConnector3">
            <a:avLst>
              <a:gd name="adj1" fmla="val 50000"/>
            </a:avLst>
          </a:prstGeom>
          <a:ln w="38100">
            <a:solidFill>
              <a:srgbClr val="7B5EA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7644809" y="106327"/>
            <a:ext cx="40268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SELECT COUNT(*) AS sayi FROM Petler;</a:t>
            </a:r>
          </a:p>
          <a:p>
            <a:r>
              <a:rPr lang="tr-TR" sz="1400" b="1" dirty="0">
                <a:solidFill>
                  <a:schemeClr val="bg1"/>
                </a:solidFill>
              </a:rPr>
              <a:t> -- Bekleyen Randevu Sayısı için</a:t>
            </a:r>
          </a:p>
          <a:p>
            <a:r>
              <a:rPr lang="tr-TR" sz="1400" b="1" dirty="0">
                <a:solidFill>
                  <a:schemeClr val="bg1"/>
                </a:solidFill>
              </a:rPr>
              <a:t>SELECT COUNT(*) AS sayi FROM Randevular WHERE Durum='Bekliyor';</a:t>
            </a:r>
          </a:p>
        </p:txBody>
      </p:sp>
      <p:sp>
        <p:nvSpPr>
          <p:cNvPr id="30" name="Serbest Form 29"/>
          <p:cNvSpPr/>
          <p:nvPr/>
        </p:nvSpPr>
        <p:spPr>
          <a:xfrm>
            <a:off x="1998925" y="464569"/>
            <a:ext cx="4221127" cy="502999"/>
          </a:xfrm>
          <a:custGeom>
            <a:avLst/>
            <a:gdLst>
              <a:gd name="connsiteX0" fmla="*/ 0 w 4209426"/>
              <a:gd name="connsiteY0" fmla="*/ 502998 h 502998"/>
              <a:gd name="connsiteX1" fmla="*/ 3200400 w 4209426"/>
              <a:gd name="connsiteY1" fmla="*/ 13900 h 502998"/>
              <a:gd name="connsiteX2" fmla="*/ 4146698 w 4209426"/>
              <a:gd name="connsiteY2" fmla="*/ 130858 h 502998"/>
              <a:gd name="connsiteX3" fmla="*/ 4125432 w 4209426"/>
              <a:gd name="connsiteY3" fmla="*/ 98961 h 502998"/>
              <a:gd name="connsiteX4" fmla="*/ 4167963 w 4209426"/>
              <a:gd name="connsiteY4" fmla="*/ 45798 h 502998"/>
              <a:gd name="connsiteX5" fmla="*/ 4167963 w 4209426"/>
              <a:gd name="connsiteY5" fmla="*/ 45798 h 502998"/>
              <a:gd name="connsiteX6" fmla="*/ 4167963 w 4209426"/>
              <a:gd name="connsiteY6" fmla="*/ 45798 h 502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9426" h="502998">
                <a:moveTo>
                  <a:pt x="0" y="502998"/>
                </a:moveTo>
                <a:cubicBezTo>
                  <a:pt x="1254642" y="289460"/>
                  <a:pt x="2509284" y="75923"/>
                  <a:pt x="3200400" y="13900"/>
                </a:cubicBezTo>
                <a:cubicBezTo>
                  <a:pt x="3891516" y="-48123"/>
                  <a:pt x="3992526" y="116681"/>
                  <a:pt x="4146698" y="130858"/>
                </a:cubicBezTo>
                <a:cubicBezTo>
                  <a:pt x="4300870" y="145035"/>
                  <a:pt x="4121888" y="113138"/>
                  <a:pt x="4125432" y="98961"/>
                </a:cubicBezTo>
                <a:cubicBezTo>
                  <a:pt x="4128976" y="84784"/>
                  <a:pt x="4167963" y="45798"/>
                  <a:pt x="4167963" y="45798"/>
                </a:cubicBezTo>
                <a:lnTo>
                  <a:pt x="4167963" y="45798"/>
                </a:lnTo>
                <a:lnTo>
                  <a:pt x="4167963" y="45798"/>
                </a:lnTo>
              </a:path>
            </a:pathLst>
          </a:custGeom>
          <a:noFill/>
          <a:ln w="38100">
            <a:solidFill>
              <a:srgbClr val="7B5EA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1315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" y="0"/>
            <a:ext cx="12182416" cy="5837275"/>
          </a:xfrm>
          <a:prstGeom prst="rect">
            <a:avLst/>
          </a:prstGeom>
        </p:spPr>
      </p:pic>
      <p:sp>
        <p:nvSpPr>
          <p:cNvPr id="3" name="Yuvarlatılmış Dikdörtgen 2"/>
          <p:cNvSpPr/>
          <p:nvPr/>
        </p:nvSpPr>
        <p:spPr>
          <a:xfrm>
            <a:off x="7591652" y="85065"/>
            <a:ext cx="4146697" cy="1041991"/>
          </a:xfrm>
          <a:prstGeom prst="roundRect">
            <a:avLst/>
          </a:prstGeom>
          <a:solidFill>
            <a:srgbClr val="7B5E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  <p:sp>
        <p:nvSpPr>
          <p:cNvPr id="5" name="Yuvarlatılmış Dikdörtgen 4"/>
          <p:cNvSpPr/>
          <p:nvPr/>
        </p:nvSpPr>
        <p:spPr>
          <a:xfrm>
            <a:off x="9589" y="5782141"/>
            <a:ext cx="4243439" cy="1102241"/>
          </a:xfrm>
          <a:prstGeom prst="roundRect">
            <a:avLst/>
          </a:prstGeom>
          <a:solidFill>
            <a:srgbClr val="7B5E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/>
              <a:t>SELECT Tur, COUNT(*) AS sayi FROM Petler GROUP BY Tur;</a:t>
            </a:r>
            <a:endParaRPr lang="tr-TR" b="1" dirty="0"/>
          </a:p>
        </p:txBody>
      </p:sp>
      <p:cxnSp>
        <p:nvCxnSpPr>
          <p:cNvPr id="8" name="Eğri Bağlayıcı 7"/>
          <p:cNvCxnSpPr/>
          <p:nvPr/>
        </p:nvCxnSpPr>
        <p:spPr>
          <a:xfrm flipV="1">
            <a:off x="4763390" y="265818"/>
            <a:ext cx="2732567" cy="680484"/>
          </a:xfrm>
          <a:prstGeom prst="curvedConnector3">
            <a:avLst>
              <a:gd name="adj1" fmla="val 50000"/>
            </a:avLst>
          </a:prstGeom>
          <a:ln w="38100">
            <a:solidFill>
              <a:srgbClr val="7B5EA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Eğri Bağlayıcı 14"/>
          <p:cNvCxnSpPr/>
          <p:nvPr/>
        </p:nvCxnSpPr>
        <p:spPr>
          <a:xfrm rot="5400000">
            <a:off x="-132906" y="3152554"/>
            <a:ext cx="3519376" cy="1509823"/>
          </a:xfrm>
          <a:prstGeom prst="curvedConnector3">
            <a:avLst>
              <a:gd name="adj1" fmla="val 32479"/>
            </a:avLst>
          </a:prstGeom>
          <a:ln w="38100">
            <a:solidFill>
              <a:srgbClr val="7B5EA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Metin kutusu 1"/>
          <p:cNvSpPr txBox="1"/>
          <p:nvPr/>
        </p:nvSpPr>
        <p:spPr>
          <a:xfrm>
            <a:off x="7644809" y="106328"/>
            <a:ext cx="40268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SELECT COUNT(*) AS sayi FROM Petler;</a:t>
            </a:r>
          </a:p>
          <a:p>
            <a:r>
              <a:rPr lang="tr-TR" sz="1400" b="1" dirty="0">
                <a:solidFill>
                  <a:schemeClr val="bg1"/>
                </a:solidFill>
              </a:rPr>
              <a:t> -- Bekleyen Randevu Sayısı için</a:t>
            </a:r>
          </a:p>
          <a:p>
            <a:r>
              <a:rPr lang="tr-TR" sz="1400" b="1" dirty="0">
                <a:solidFill>
                  <a:schemeClr val="bg1"/>
                </a:solidFill>
              </a:rPr>
              <a:t>SELECT COUNT(*) AS sayi FROM Randevular WHERE Durum='Bekliyor';</a:t>
            </a:r>
          </a:p>
        </p:txBody>
      </p:sp>
      <p:sp>
        <p:nvSpPr>
          <p:cNvPr id="13" name="Serbest Form 12"/>
          <p:cNvSpPr/>
          <p:nvPr/>
        </p:nvSpPr>
        <p:spPr>
          <a:xfrm>
            <a:off x="1998925" y="464569"/>
            <a:ext cx="4221127" cy="502999"/>
          </a:xfrm>
          <a:custGeom>
            <a:avLst/>
            <a:gdLst>
              <a:gd name="connsiteX0" fmla="*/ 0 w 4209426"/>
              <a:gd name="connsiteY0" fmla="*/ 502998 h 502998"/>
              <a:gd name="connsiteX1" fmla="*/ 3200400 w 4209426"/>
              <a:gd name="connsiteY1" fmla="*/ 13900 h 502998"/>
              <a:gd name="connsiteX2" fmla="*/ 4146698 w 4209426"/>
              <a:gd name="connsiteY2" fmla="*/ 130858 h 502998"/>
              <a:gd name="connsiteX3" fmla="*/ 4125432 w 4209426"/>
              <a:gd name="connsiteY3" fmla="*/ 98961 h 502998"/>
              <a:gd name="connsiteX4" fmla="*/ 4167963 w 4209426"/>
              <a:gd name="connsiteY4" fmla="*/ 45798 h 502998"/>
              <a:gd name="connsiteX5" fmla="*/ 4167963 w 4209426"/>
              <a:gd name="connsiteY5" fmla="*/ 45798 h 502998"/>
              <a:gd name="connsiteX6" fmla="*/ 4167963 w 4209426"/>
              <a:gd name="connsiteY6" fmla="*/ 45798 h 502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9426" h="502998">
                <a:moveTo>
                  <a:pt x="0" y="502998"/>
                </a:moveTo>
                <a:cubicBezTo>
                  <a:pt x="1254642" y="289460"/>
                  <a:pt x="2509284" y="75923"/>
                  <a:pt x="3200400" y="13900"/>
                </a:cubicBezTo>
                <a:cubicBezTo>
                  <a:pt x="3891516" y="-48123"/>
                  <a:pt x="3992526" y="116681"/>
                  <a:pt x="4146698" y="130858"/>
                </a:cubicBezTo>
                <a:cubicBezTo>
                  <a:pt x="4300870" y="145035"/>
                  <a:pt x="4121888" y="113138"/>
                  <a:pt x="4125432" y="98961"/>
                </a:cubicBezTo>
                <a:cubicBezTo>
                  <a:pt x="4128976" y="84784"/>
                  <a:pt x="4167963" y="45798"/>
                  <a:pt x="4167963" y="45798"/>
                </a:cubicBezTo>
                <a:lnTo>
                  <a:pt x="4167963" y="45798"/>
                </a:lnTo>
                <a:lnTo>
                  <a:pt x="4167963" y="45798"/>
                </a:lnTo>
              </a:path>
            </a:pathLst>
          </a:custGeom>
          <a:noFill/>
          <a:ln w="38100">
            <a:solidFill>
              <a:srgbClr val="7B5EA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110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" y="0"/>
            <a:ext cx="12182416" cy="5837275"/>
          </a:xfrm>
          <a:prstGeom prst="rect">
            <a:avLst/>
          </a:prstGeom>
        </p:spPr>
      </p:pic>
      <p:sp>
        <p:nvSpPr>
          <p:cNvPr id="3" name="Yuvarlatılmış Dikdörtgen 2"/>
          <p:cNvSpPr/>
          <p:nvPr/>
        </p:nvSpPr>
        <p:spPr>
          <a:xfrm>
            <a:off x="7591652" y="85065"/>
            <a:ext cx="4146697" cy="1041991"/>
          </a:xfrm>
          <a:prstGeom prst="roundRect">
            <a:avLst/>
          </a:prstGeom>
          <a:solidFill>
            <a:srgbClr val="7B5E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  <p:sp>
        <p:nvSpPr>
          <p:cNvPr id="5" name="Yuvarlatılmış Dikdörtgen 4"/>
          <p:cNvSpPr/>
          <p:nvPr/>
        </p:nvSpPr>
        <p:spPr>
          <a:xfrm>
            <a:off x="9589" y="5755764"/>
            <a:ext cx="4243439" cy="1102241"/>
          </a:xfrm>
          <a:prstGeom prst="roundRect">
            <a:avLst/>
          </a:prstGeom>
          <a:solidFill>
            <a:srgbClr val="7B5E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/>
              <a:t>SELECT Tur, COUNT(*) AS sayi FROM Petler GROUP BY Tur;</a:t>
            </a:r>
            <a:endParaRPr lang="tr-TR" b="1" dirty="0"/>
          </a:p>
        </p:txBody>
      </p:sp>
      <p:cxnSp>
        <p:nvCxnSpPr>
          <p:cNvPr id="8" name="Eğri Bağlayıcı 7"/>
          <p:cNvCxnSpPr/>
          <p:nvPr/>
        </p:nvCxnSpPr>
        <p:spPr>
          <a:xfrm flipV="1">
            <a:off x="4763390" y="265818"/>
            <a:ext cx="2732567" cy="680484"/>
          </a:xfrm>
          <a:prstGeom prst="curvedConnector3">
            <a:avLst>
              <a:gd name="adj1" fmla="val 50000"/>
            </a:avLst>
          </a:prstGeom>
          <a:ln w="38100">
            <a:solidFill>
              <a:srgbClr val="7B5EA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Eğri Bağlayıcı 14"/>
          <p:cNvCxnSpPr/>
          <p:nvPr/>
        </p:nvCxnSpPr>
        <p:spPr>
          <a:xfrm rot="5400000">
            <a:off x="-132906" y="3152554"/>
            <a:ext cx="3519376" cy="1509823"/>
          </a:xfrm>
          <a:prstGeom prst="curvedConnector3">
            <a:avLst>
              <a:gd name="adj1" fmla="val 32479"/>
            </a:avLst>
          </a:prstGeom>
          <a:ln w="38100">
            <a:solidFill>
              <a:srgbClr val="7B5EA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Metin kutusu 1"/>
          <p:cNvSpPr txBox="1"/>
          <p:nvPr/>
        </p:nvSpPr>
        <p:spPr>
          <a:xfrm>
            <a:off x="7644809" y="106328"/>
            <a:ext cx="40268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SELECT COUNT(*) AS sayi FROM Petler;</a:t>
            </a:r>
          </a:p>
          <a:p>
            <a:r>
              <a:rPr lang="tr-TR" sz="1400" b="1" dirty="0">
                <a:solidFill>
                  <a:schemeClr val="bg1"/>
                </a:solidFill>
              </a:rPr>
              <a:t> -- Bekleyen Randevu Sayısı için</a:t>
            </a:r>
          </a:p>
          <a:p>
            <a:r>
              <a:rPr lang="tr-TR" sz="1400" b="1" dirty="0">
                <a:solidFill>
                  <a:schemeClr val="bg1"/>
                </a:solidFill>
              </a:rPr>
              <a:t>SELECT COUNT(*) AS sayi FROM Randevular WHERE Durum='Bekliyor';</a:t>
            </a:r>
          </a:p>
        </p:txBody>
      </p:sp>
      <p:sp>
        <p:nvSpPr>
          <p:cNvPr id="13" name="Serbest Form 12"/>
          <p:cNvSpPr/>
          <p:nvPr/>
        </p:nvSpPr>
        <p:spPr>
          <a:xfrm>
            <a:off x="1998925" y="464569"/>
            <a:ext cx="4221127" cy="502999"/>
          </a:xfrm>
          <a:custGeom>
            <a:avLst/>
            <a:gdLst>
              <a:gd name="connsiteX0" fmla="*/ 0 w 4209426"/>
              <a:gd name="connsiteY0" fmla="*/ 502998 h 502998"/>
              <a:gd name="connsiteX1" fmla="*/ 3200400 w 4209426"/>
              <a:gd name="connsiteY1" fmla="*/ 13900 h 502998"/>
              <a:gd name="connsiteX2" fmla="*/ 4146698 w 4209426"/>
              <a:gd name="connsiteY2" fmla="*/ 130858 h 502998"/>
              <a:gd name="connsiteX3" fmla="*/ 4125432 w 4209426"/>
              <a:gd name="connsiteY3" fmla="*/ 98961 h 502998"/>
              <a:gd name="connsiteX4" fmla="*/ 4167963 w 4209426"/>
              <a:gd name="connsiteY4" fmla="*/ 45798 h 502998"/>
              <a:gd name="connsiteX5" fmla="*/ 4167963 w 4209426"/>
              <a:gd name="connsiteY5" fmla="*/ 45798 h 502998"/>
              <a:gd name="connsiteX6" fmla="*/ 4167963 w 4209426"/>
              <a:gd name="connsiteY6" fmla="*/ 45798 h 502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9426" h="502998">
                <a:moveTo>
                  <a:pt x="0" y="502998"/>
                </a:moveTo>
                <a:cubicBezTo>
                  <a:pt x="1254642" y="289460"/>
                  <a:pt x="2509284" y="75923"/>
                  <a:pt x="3200400" y="13900"/>
                </a:cubicBezTo>
                <a:cubicBezTo>
                  <a:pt x="3891516" y="-48123"/>
                  <a:pt x="3992526" y="116681"/>
                  <a:pt x="4146698" y="130858"/>
                </a:cubicBezTo>
                <a:cubicBezTo>
                  <a:pt x="4300870" y="145035"/>
                  <a:pt x="4121888" y="113138"/>
                  <a:pt x="4125432" y="98961"/>
                </a:cubicBezTo>
                <a:cubicBezTo>
                  <a:pt x="4128976" y="84784"/>
                  <a:pt x="4167963" y="45798"/>
                  <a:pt x="4167963" y="45798"/>
                </a:cubicBezTo>
                <a:lnTo>
                  <a:pt x="4167963" y="45798"/>
                </a:lnTo>
                <a:lnTo>
                  <a:pt x="4167963" y="45798"/>
                </a:lnTo>
              </a:path>
            </a:pathLst>
          </a:custGeom>
          <a:noFill/>
          <a:ln w="38100">
            <a:solidFill>
              <a:srgbClr val="7B5EA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  <p:cxnSp>
        <p:nvCxnSpPr>
          <p:cNvPr id="18" name="Eğri Bağlayıcı 17"/>
          <p:cNvCxnSpPr/>
          <p:nvPr/>
        </p:nvCxnSpPr>
        <p:spPr>
          <a:xfrm>
            <a:off x="5851695" y="5463550"/>
            <a:ext cx="1547589" cy="572479"/>
          </a:xfrm>
          <a:prstGeom prst="curvedConnector3">
            <a:avLst>
              <a:gd name="adj1" fmla="val 50000"/>
            </a:avLst>
          </a:prstGeom>
          <a:ln w="38100">
            <a:solidFill>
              <a:srgbClr val="7B5EA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Yuvarlatılmış Dikdörtgen 21"/>
          <p:cNvSpPr/>
          <p:nvPr/>
        </p:nvSpPr>
        <p:spPr>
          <a:xfrm>
            <a:off x="7399287" y="5129053"/>
            <a:ext cx="4782423" cy="1734087"/>
          </a:xfrm>
          <a:prstGeom prst="roundRect">
            <a:avLst/>
          </a:prstGeom>
          <a:solidFill>
            <a:srgbClr val="7B5E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tr-TR" sz="1500" b="1" dirty="0"/>
              <a:t>SELECT p.Ad AS PetAdi, mu.Teshis, v.Ad+' '+v.Soyad AS VeterinerAdi, mu.MuayeneTarihi, mu.MuayeneUcreti </a:t>
            </a:r>
          </a:p>
          <a:p>
            <a:r>
              <a:rPr lang="tr-TR" sz="1500" b="1" dirty="0"/>
              <a:t>FROM Muayeneler mu </a:t>
            </a:r>
          </a:p>
          <a:p>
            <a:r>
              <a:rPr lang="tr-TR" sz="1500" b="1" dirty="0"/>
              <a:t>JOIN Petler p ON mu.PetID = p.PetID JOIN Veterinerler v </a:t>
            </a:r>
          </a:p>
          <a:p>
            <a:r>
              <a:rPr lang="tr-TR" sz="1500" b="1" dirty="0"/>
              <a:t>ON mu.VeterinerID = v.VeterinerID </a:t>
            </a:r>
          </a:p>
          <a:p>
            <a:r>
              <a:rPr lang="tr-TR" sz="1500" b="1" dirty="0"/>
              <a:t>ORDER BY mu.MuayeneTarihi DESC;</a:t>
            </a:r>
          </a:p>
        </p:txBody>
      </p:sp>
    </p:spTree>
    <p:extLst>
      <p:ext uri="{BB962C8B-B14F-4D97-AF65-F5344CB8AC3E}">
        <p14:creationId xmlns:p14="http://schemas.microsoft.com/office/powerpoint/2010/main" val="42194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17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0"/>
    </mc:Choice>
    <mc:Fallback xmlns="">
      <p:transition advTm="1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171595"/>
          </a:xfrm>
          <a:prstGeom prst="rect">
            <a:avLst/>
          </a:prstGeom>
        </p:spPr>
      </p:pic>
      <p:sp>
        <p:nvSpPr>
          <p:cNvPr id="3" name="Serbest Form 2"/>
          <p:cNvSpPr/>
          <p:nvPr/>
        </p:nvSpPr>
        <p:spPr>
          <a:xfrm>
            <a:off x="528058" y="3478924"/>
            <a:ext cx="1637076" cy="2375339"/>
          </a:xfrm>
          <a:custGeom>
            <a:avLst/>
            <a:gdLst>
              <a:gd name="connsiteX0" fmla="*/ 1595035 w 1595035"/>
              <a:gd name="connsiteY0" fmla="*/ 0 h 1408386"/>
              <a:gd name="connsiteX1" fmla="*/ 92055 w 1595035"/>
              <a:gd name="connsiteY1" fmla="*/ 872358 h 1408386"/>
              <a:gd name="connsiteX2" fmla="*/ 291752 w 1595035"/>
              <a:gd name="connsiteY2" fmla="*/ 1408386 h 1408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5035" h="1408386">
                <a:moveTo>
                  <a:pt x="1595035" y="0"/>
                </a:moveTo>
                <a:cubicBezTo>
                  <a:pt x="952152" y="318813"/>
                  <a:pt x="309269" y="637627"/>
                  <a:pt x="92055" y="872358"/>
                </a:cubicBezTo>
                <a:cubicBezTo>
                  <a:pt x="-125159" y="1107089"/>
                  <a:pt x="83296" y="1257737"/>
                  <a:pt x="291752" y="1408386"/>
                </a:cubicBezTo>
              </a:path>
            </a:pathLst>
          </a:cu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  <p:pic>
        <p:nvPicPr>
          <p:cNvPr id="11" name="Resi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44" y="4659680"/>
            <a:ext cx="5212145" cy="219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0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1" y="144583"/>
            <a:ext cx="11621507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1" y="144583"/>
            <a:ext cx="11621507" cy="1607959"/>
          </a:xfrm>
          <a:prstGeom prst="rect">
            <a:avLst/>
          </a:prstGeom>
        </p:spPr>
      </p:pic>
      <p:sp>
        <p:nvSpPr>
          <p:cNvPr id="2" name="Dikdörtgen 1"/>
          <p:cNvSpPr/>
          <p:nvPr/>
        </p:nvSpPr>
        <p:spPr>
          <a:xfrm>
            <a:off x="409903" y="224212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/>
              <a:t>DELETE FROM Muayeneler WHERE PetID=@id;</a:t>
            </a:r>
          </a:p>
          <a:p>
            <a:r>
              <a:rPr lang="tr-TR" b="1" dirty="0"/>
              <a:t>DELETE FROM Randevular WHERE PetID=@id;</a:t>
            </a:r>
          </a:p>
          <a:p>
            <a:r>
              <a:rPr lang="tr-TR" b="1" dirty="0"/>
              <a:t>DELETE FROM Petler WHERE PetID=@id;</a:t>
            </a:r>
          </a:p>
        </p:txBody>
      </p:sp>
      <p:sp>
        <p:nvSpPr>
          <p:cNvPr id="4" name="Serbest Form 3"/>
          <p:cNvSpPr/>
          <p:nvPr/>
        </p:nvSpPr>
        <p:spPr>
          <a:xfrm>
            <a:off x="4845273" y="1597575"/>
            <a:ext cx="5381297" cy="2034687"/>
          </a:xfrm>
          <a:custGeom>
            <a:avLst/>
            <a:gdLst>
              <a:gd name="connsiteX0" fmla="*/ 5381297 w 5381297"/>
              <a:gd name="connsiteY0" fmla="*/ 0 h 2034686"/>
              <a:gd name="connsiteX1" fmla="*/ 3857297 w 5381297"/>
              <a:gd name="connsiteY1" fmla="*/ 1933904 h 2034686"/>
              <a:gd name="connsiteX2" fmla="*/ 0 w 5381297"/>
              <a:gd name="connsiteY2" fmla="*/ 1587062 h 203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1297" h="2034686">
                <a:moveTo>
                  <a:pt x="5381297" y="0"/>
                </a:moveTo>
                <a:cubicBezTo>
                  <a:pt x="5067738" y="834697"/>
                  <a:pt x="4754180" y="1669394"/>
                  <a:pt x="3857297" y="1933904"/>
                </a:cubicBezTo>
                <a:cubicBezTo>
                  <a:pt x="2960414" y="2198414"/>
                  <a:pt x="1480207" y="1892738"/>
                  <a:pt x="0" y="1587062"/>
                </a:cubicBezTo>
              </a:path>
            </a:pathLst>
          </a:cu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641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l="1426" t="2385" r="5182" b="906"/>
          <a:stretch/>
        </p:blipFill>
        <p:spPr>
          <a:xfrm>
            <a:off x="106569" y="2001893"/>
            <a:ext cx="4818299" cy="4488249"/>
          </a:xfrm>
          <a:prstGeom prst="rect">
            <a:avLst/>
          </a:prstGeom>
        </p:spPr>
      </p:pic>
      <p:sp>
        <p:nvSpPr>
          <p:cNvPr id="6" name="Dikdörtgen 5"/>
          <p:cNvSpPr/>
          <p:nvPr/>
        </p:nvSpPr>
        <p:spPr>
          <a:xfrm>
            <a:off x="5734165" y="33945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INSERT INTO Petler (MusteriID, Ad, Tur, Cins, Kilo) VALUES (@MusteriID, @Ad, @Tur, @Cins, @Kilo);</a:t>
            </a:r>
            <a:endParaRPr lang="tr-TR" b="1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1" y="144583"/>
            <a:ext cx="11621507" cy="1607959"/>
          </a:xfrm>
          <a:prstGeom prst="rect">
            <a:avLst/>
          </a:prstGeom>
        </p:spPr>
      </p:pic>
      <p:sp>
        <p:nvSpPr>
          <p:cNvPr id="2" name="Serbest Form 1"/>
          <p:cNvSpPr/>
          <p:nvPr/>
        </p:nvSpPr>
        <p:spPr>
          <a:xfrm>
            <a:off x="1971608" y="-7173"/>
            <a:ext cx="8833027" cy="2077712"/>
          </a:xfrm>
          <a:custGeom>
            <a:avLst/>
            <a:gdLst>
              <a:gd name="connsiteX0" fmla="*/ 8833026 w 8833026"/>
              <a:gd name="connsiteY0" fmla="*/ 290953 h 2077712"/>
              <a:gd name="connsiteX1" fmla="*/ 960778 w 8833026"/>
              <a:gd name="connsiteY1" fmla="*/ 143808 h 2077712"/>
              <a:gd name="connsiteX2" fmla="*/ 414240 w 8833026"/>
              <a:gd name="connsiteY2" fmla="*/ 2077712 h 207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33026" h="2077712">
                <a:moveTo>
                  <a:pt x="8833026" y="290953"/>
                </a:moveTo>
                <a:cubicBezTo>
                  <a:pt x="5598467" y="68484"/>
                  <a:pt x="2363909" y="-153985"/>
                  <a:pt x="960778" y="143808"/>
                </a:cubicBezTo>
                <a:cubicBezTo>
                  <a:pt x="-442353" y="441601"/>
                  <a:pt x="-14057" y="1259656"/>
                  <a:pt x="414240" y="2077712"/>
                </a:cubicBezTo>
              </a:path>
            </a:pathLst>
          </a:cu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356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0">
        <p:fade/>
      </p:transition>
    </mc:Choice>
    <mc:Fallback xmlns="">
      <p:transition spd="med" advTm="4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l="1426" t="2385" r="5182" b="906"/>
          <a:stretch/>
        </p:blipFill>
        <p:spPr>
          <a:xfrm>
            <a:off x="106569" y="2001893"/>
            <a:ext cx="4818299" cy="4488249"/>
          </a:xfrm>
          <a:prstGeom prst="rect">
            <a:avLst/>
          </a:prstGeom>
        </p:spPr>
      </p:pic>
      <p:sp>
        <p:nvSpPr>
          <p:cNvPr id="6" name="Dikdörtgen 5"/>
          <p:cNvSpPr/>
          <p:nvPr/>
        </p:nvSpPr>
        <p:spPr>
          <a:xfrm>
            <a:off x="5734165" y="33945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INSERT INTO Petler (MusteriID, Ad, Tur, Cins, Kilo) VALUES (@MusteriID, @Ad, @Tur, @Cins, @Kilo);</a:t>
            </a:r>
            <a:endParaRPr lang="tr-TR" b="1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1" y="144583"/>
            <a:ext cx="11621507" cy="1607959"/>
          </a:xfrm>
          <a:prstGeom prst="rect">
            <a:avLst/>
          </a:prstGeom>
        </p:spPr>
      </p:pic>
      <p:sp>
        <p:nvSpPr>
          <p:cNvPr id="2" name="Serbest Form 1"/>
          <p:cNvSpPr/>
          <p:nvPr/>
        </p:nvSpPr>
        <p:spPr>
          <a:xfrm>
            <a:off x="1971608" y="-7173"/>
            <a:ext cx="8833027" cy="2077712"/>
          </a:xfrm>
          <a:custGeom>
            <a:avLst/>
            <a:gdLst>
              <a:gd name="connsiteX0" fmla="*/ 8833026 w 8833026"/>
              <a:gd name="connsiteY0" fmla="*/ 290953 h 2077712"/>
              <a:gd name="connsiteX1" fmla="*/ 960778 w 8833026"/>
              <a:gd name="connsiteY1" fmla="*/ 143808 h 2077712"/>
              <a:gd name="connsiteX2" fmla="*/ 414240 w 8833026"/>
              <a:gd name="connsiteY2" fmla="*/ 2077712 h 207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33026" h="2077712">
                <a:moveTo>
                  <a:pt x="8833026" y="290953"/>
                </a:moveTo>
                <a:cubicBezTo>
                  <a:pt x="5598467" y="68484"/>
                  <a:pt x="2363909" y="-153985"/>
                  <a:pt x="960778" y="143808"/>
                </a:cubicBezTo>
                <a:cubicBezTo>
                  <a:pt x="-442353" y="441601"/>
                  <a:pt x="-14057" y="1259656"/>
                  <a:pt x="414240" y="2077712"/>
                </a:cubicBezTo>
              </a:path>
            </a:pathLst>
          </a:cu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  <p:sp>
        <p:nvSpPr>
          <p:cNvPr id="3" name="Serbest Form 2"/>
          <p:cNvSpPr/>
          <p:nvPr/>
        </p:nvSpPr>
        <p:spPr>
          <a:xfrm>
            <a:off x="4330265" y="4309242"/>
            <a:ext cx="4074639" cy="1954925"/>
          </a:xfrm>
          <a:custGeom>
            <a:avLst/>
            <a:gdLst>
              <a:gd name="connsiteX0" fmla="*/ 0 w 4116680"/>
              <a:gd name="connsiteY0" fmla="*/ 2102069 h 2102069"/>
              <a:gd name="connsiteX1" fmla="*/ 3899338 w 4116680"/>
              <a:gd name="connsiteY1" fmla="*/ 1450428 h 2102069"/>
              <a:gd name="connsiteX2" fmla="*/ 3647089 w 4116680"/>
              <a:gd name="connsiteY2" fmla="*/ 0 h 2102069"/>
              <a:gd name="connsiteX3" fmla="*/ 3647089 w 4116680"/>
              <a:gd name="connsiteY3" fmla="*/ 0 h 210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6680" h="2102069">
                <a:moveTo>
                  <a:pt x="0" y="2102069"/>
                </a:moveTo>
                <a:cubicBezTo>
                  <a:pt x="1645745" y="1951421"/>
                  <a:pt x="3291490" y="1800773"/>
                  <a:pt x="3899338" y="1450428"/>
                </a:cubicBezTo>
                <a:cubicBezTo>
                  <a:pt x="4507186" y="1100083"/>
                  <a:pt x="3647089" y="0"/>
                  <a:pt x="3647089" y="0"/>
                </a:cubicBezTo>
                <a:lnTo>
                  <a:pt x="3647089" y="0"/>
                </a:lnTo>
              </a:path>
            </a:pathLst>
          </a:cu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699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t="24488" r="29483"/>
          <a:stretch/>
        </p:blipFill>
        <p:spPr>
          <a:xfrm>
            <a:off x="94597" y="136635"/>
            <a:ext cx="10257276" cy="2890344"/>
          </a:xfrm>
          <a:prstGeom prst="rect">
            <a:avLst/>
          </a:prstGeom>
        </p:spPr>
      </p:pic>
      <p:sp>
        <p:nvSpPr>
          <p:cNvPr id="7" name="Dikdörtgen 6"/>
          <p:cNvSpPr/>
          <p:nvPr/>
        </p:nvSpPr>
        <p:spPr>
          <a:xfrm>
            <a:off x="94593" y="3957177"/>
            <a:ext cx="43512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UPDATE Ilaclar SET StokMiktari = StokMiktari + @miktar WHERE IlacID = @id;</a:t>
            </a:r>
          </a:p>
        </p:txBody>
      </p:sp>
      <p:sp>
        <p:nvSpPr>
          <p:cNvPr id="2" name="Serbest Form 1"/>
          <p:cNvSpPr/>
          <p:nvPr/>
        </p:nvSpPr>
        <p:spPr>
          <a:xfrm>
            <a:off x="4572005" y="2900856"/>
            <a:ext cx="3563007" cy="1717099"/>
          </a:xfrm>
          <a:custGeom>
            <a:avLst/>
            <a:gdLst>
              <a:gd name="connsiteX0" fmla="*/ 3563007 w 3563007"/>
              <a:gd name="connsiteY0" fmla="*/ 0 h 1717099"/>
              <a:gd name="connsiteX1" fmla="*/ 2459421 w 3563007"/>
              <a:gd name="connsiteY1" fmla="*/ 1513490 h 1717099"/>
              <a:gd name="connsiteX2" fmla="*/ 0 w 3563007"/>
              <a:gd name="connsiteY2" fmla="*/ 1660635 h 17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63007" h="1717099">
                <a:moveTo>
                  <a:pt x="3563007" y="0"/>
                </a:moveTo>
                <a:cubicBezTo>
                  <a:pt x="3308131" y="618359"/>
                  <a:pt x="3053255" y="1236718"/>
                  <a:pt x="2459421" y="1513490"/>
                </a:cubicBezTo>
                <a:cubicBezTo>
                  <a:pt x="1865587" y="1790262"/>
                  <a:pt x="932793" y="1725448"/>
                  <a:pt x="0" y="1660635"/>
                </a:cubicBezTo>
              </a:path>
            </a:pathLst>
          </a:cu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176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b="34703"/>
          <a:stretch/>
        </p:blipFill>
        <p:spPr>
          <a:xfrm>
            <a:off x="5" y="1"/>
            <a:ext cx="6821215" cy="2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4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b="34703"/>
          <a:stretch/>
        </p:blipFill>
        <p:spPr>
          <a:xfrm>
            <a:off x="5" y="1"/>
            <a:ext cx="6821215" cy="2854648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3410608" y="3470692"/>
            <a:ext cx="5943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SELECT mu.MuayeneID,</a:t>
            </a:r>
          </a:p>
          <a:p>
            <a:r>
              <a:rPr lang="tr-TR" b="1" dirty="0"/>
              <a:t>       m.Ad+' '+m.Soyad AS MusteriAdi,</a:t>
            </a:r>
          </a:p>
          <a:p>
            <a:r>
              <a:rPr lang="tr-TR" b="1" dirty="0"/>
              <a:t>       p.Ad AS PetAdi, p.Tur,</a:t>
            </a:r>
          </a:p>
          <a:p>
            <a:r>
              <a:rPr lang="tr-TR" b="1" dirty="0"/>
              <a:t>       v.Ad+' '+v.Soyad AS VeterinerAdi, v.Uzmanlik,</a:t>
            </a:r>
          </a:p>
          <a:p>
            <a:r>
              <a:rPr lang="tr-TR" b="1" dirty="0"/>
              <a:t>       mu.Teshis, mu.MuayeneUcreti</a:t>
            </a:r>
          </a:p>
          <a:p>
            <a:r>
              <a:rPr lang="tr-TR" b="1" dirty="0"/>
              <a:t>FROM Muayeneler mu</a:t>
            </a:r>
          </a:p>
          <a:p>
            <a:r>
              <a:rPr lang="tr-TR" b="1" dirty="0"/>
              <a:t>JOIN Petler p ON mu.PetID = p.PetID</a:t>
            </a:r>
          </a:p>
          <a:p>
            <a:r>
              <a:rPr lang="tr-TR" b="1" dirty="0"/>
              <a:t>JOIN Musteriler m ON p.MusteriID = m.MusteriID</a:t>
            </a:r>
          </a:p>
          <a:p>
            <a:r>
              <a:rPr lang="tr-TR" b="1" dirty="0"/>
              <a:t>JOIN Veterinerler v ON mu.VeterinerID = v.VeterinerID</a:t>
            </a:r>
          </a:p>
          <a:p>
            <a:r>
              <a:rPr lang="tr-TR" b="1" dirty="0"/>
              <a:t>ORDER BY mu.MuayeneTarihi DESC;</a:t>
            </a:r>
          </a:p>
        </p:txBody>
      </p:sp>
      <p:sp>
        <p:nvSpPr>
          <p:cNvPr id="6" name="Serbest Form 5"/>
          <p:cNvSpPr/>
          <p:nvPr/>
        </p:nvSpPr>
        <p:spPr>
          <a:xfrm>
            <a:off x="1886532" y="2804160"/>
            <a:ext cx="1242753" cy="792480"/>
          </a:xfrm>
          <a:custGeom>
            <a:avLst/>
            <a:gdLst>
              <a:gd name="connsiteX0" fmla="*/ 216593 w 1242753"/>
              <a:gd name="connsiteY0" fmla="*/ 0 h 792480"/>
              <a:gd name="connsiteX1" fmla="*/ 74353 w 1242753"/>
              <a:gd name="connsiteY1" fmla="*/ 619760 h 792480"/>
              <a:gd name="connsiteX2" fmla="*/ 1242753 w 1242753"/>
              <a:gd name="connsiteY2" fmla="*/ 79248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2753" h="792480">
                <a:moveTo>
                  <a:pt x="216593" y="0"/>
                </a:moveTo>
                <a:cubicBezTo>
                  <a:pt x="59959" y="243840"/>
                  <a:pt x="-96674" y="487680"/>
                  <a:pt x="74353" y="619760"/>
                </a:cubicBezTo>
                <a:cubicBezTo>
                  <a:pt x="245380" y="751840"/>
                  <a:pt x="744066" y="772160"/>
                  <a:pt x="1242753" y="792480"/>
                </a:cubicBezTo>
              </a:path>
            </a:pathLst>
          </a:cu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764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4" y="100413"/>
            <a:ext cx="10097375" cy="209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3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4" y="100413"/>
            <a:ext cx="10097375" cy="2095683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1883455" y="314836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b="1" dirty="0"/>
              <a:t>SELECT v.Ad+' '+v.Soyad AS VeterinerAdi,</a:t>
            </a:r>
          </a:p>
          <a:p>
            <a:r>
              <a:rPr lang="tr-TR" b="1" dirty="0"/>
              <a:t>       p.Ad AS PetAdi, mu.Teshis, mu.MuayeneUcreti</a:t>
            </a:r>
          </a:p>
          <a:p>
            <a:r>
              <a:rPr lang="tr-TR" b="1" dirty="0"/>
              <a:t>FROM Muayeneler mu</a:t>
            </a:r>
          </a:p>
          <a:p>
            <a:r>
              <a:rPr lang="tr-TR" b="1" dirty="0"/>
              <a:t>JOIN Veterinerler v ON mu.VeterinerID = v.VeterinerID</a:t>
            </a:r>
          </a:p>
          <a:p>
            <a:r>
              <a:rPr lang="tr-TR" b="1" dirty="0"/>
              <a:t>JOIN Petler p ON mu.PetID = p.PetID</a:t>
            </a:r>
          </a:p>
          <a:p>
            <a:r>
              <a:rPr lang="tr-TR" b="1" dirty="0"/>
              <a:t>WHERE mu.MuayeneUcreti = (SELECT MAX(MuayeneUcreti) FROM Muayeneler);</a:t>
            </a:r>
          </a:p>
        </p:txBody>
      </p:sp>
      <p:sp>
        <p:nvSpPr>
          <p:cNvPr id="2" name="Serbest Form 1"/>
          <p:cNvSpPr/>
          <p:nvPr/>
        </p:nvSpPr>
        <p:spPr>
          <a:xfrm>
            <a:off x="990032" y="2196096"/>
            <a:ext cx="1021648" cy="1188720"/>
          </a:xfrm>
          <a:custGeom>
            <a:avLst/>
            <a:gdLst>
              <a:gd name="connsiteX0" fmla="*/ 1021648 w 1021648"/>
              <a:gd name="connsiteY0" fmla="*/ 0 h 1188720"/>
              <a:gd name="connsiteX1" fmla="*/ 5648 w 1021648"/>
              <a:gd name="connsiteY1" fmla="*/ 944880 h 1188720"/>
              <a:gd name="connsiteX2" fmla="*/ 686368 w 1021648"/>
              <a:gd name="connsiteY2" fmla="*/ 1188720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1648" h="1188720">
                <a:moveTo>
                  <a:pt x="1021648" y="0"/>
                </a:moveTo>
                <a:cubicBezTo>
                  <a:pt x="541588" y="373380"/>
                  <a:pt x="61528" y="746760"/>
                  <a:pt x="5648" y="944880"/>
                </a:cubicBezTo>
                <a:cubicBezTo>
                  <a:pt x="-50232" y="1143000"/>
                  <a:pt x="318068" y="1165860"/>
                  <a:pt x="686368" y="118872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149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57205" y="82004"/>
            <a:ext cx="7889519" cy="598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00"/>
              </a:lnSpc>
            </a:pPr>
            <a:r>
              <a:rPr lang="en-US" sz="4000" b="1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Sonuç ve Geliştirme İmkanları</a:t>
            </a:r>
            <a:endParaRPr lang="en-US" sz="40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157203" y="3305977"/>
            <a:ext cx="10743336" cy="45719"/>
          </a:xfrm>
          <a:prstGeom prst="roundRect">
            <a:avLst>
              <a:gd name="adj" fmla="val 297907"/>
            </a:avLst>
          </a:prstGeom>
          <a:solidFill>
            <a:srgbClr val="C0C1D7"/>
          </a:solidFill>
          <a:ln/>
        </p:spPr>
      </p:sp>
      <p:sp>
        <p:nvSpPr>
          <p:cNvPr id="6" name="Shape 2"/>
          <p:cNvSpPr/>
          <p:nvPr/>
        </p:nvSpPr>
        <p:spPr>
          <a:xfrm>
            <a:off x="197689" y="955827"/>
            <a:ext cx="5266155" cy="2187060"/>
          </a:xfrm>
          <a:prstGeom prst="roundRect">
            <a:avLst>
              <a:gd name="adj" fmla="val 367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" y="1177723"/>
            <a:ext cx="2213321" cy="299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51"/>
              </a:lnSpc>
            </a:pPr>
            <a:r>
              <a:rPr lang="tr-TR" sz="21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Sonuç</a:t>
            </a:r>
            <a:endParaRPr lang="en-US" sz="21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80921" y="1698906"/>
            <a:ext cx="4899691" cy="1388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651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Manuel işlemleri otomasyona dönüştürme</a:t>
            </a:r>
            <a:endParaRPr lang="en-US" sz="17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891" indent="-342891">
              <a:lnSpc>
                <a:spcPts val="2651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Veri bütünlüğü ve güvenliği sağlama</a:t>
            </a:r>
            <a:endParaRPr lang="en-US" sz="17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891" indent="-342891">
              <a:lnSpc>
                <a:spcPts val="2651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Raporlama süresini</a:t>
            </a:r>
            <a:r>
              <a:rPr lang="tr-TR" sz="1700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belirli miktarda</a:t>
            </a:r>
            <a:r>
              <a:rPr lang="en-US" sz="1700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azaltma</a:t>
            </a:r>
            <a:endParaRPr lang="en-US" sz="17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891" indent="-342891">
              <a:lnSpc>
                <a:spcPts val="2651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Stok kayıplarını minimize etme</a:t>
            </a:r>
            <a:endParaRPr lang="en-US" sz="17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133268" y="3583823"/>
            <a:ext cx="5266253" cy="2187060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0" name="Text 6"/>
          <p:cNvSpPr/>
          <p:nvPr/>
        </p:nvSpPr>
        <p:spPr>
          <a:xfrm>
            <a:off x="6728981" y="3677248"/>
            <a:ext cx="2322441" cy="299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51"/>
              </a:lnSpc>
            </a:pPr>
            <a:r>
              <a:rPr lang="en-US" sz="2100" b="1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Gelecek Geliştirmeler</a:t>
            </a:r>
            <a:endParaRPr lang="en-US" sz="21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16500" y="4085396"/>
            <a:ext cx="4899788" cy="78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2651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Mobil uygulama ile uzaktan erişim</a:t>
            </a:r>
            <a:endParaRPr lang="en-US" sz="17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891" indent="-342891">
              <a:lnSpc>
                <a:spcPts val="2651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Entegrasyon: SMS </a:t>
            </a:r>
            <a:r>
              <a:rPr lang="en-US" sz="1700" dirty="0" err="1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bildirim</a:t>
            </a:r>
            <a:r>
              <a:rPr lang="en-US" sz="1700" dirty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1700" dirty="0" err="1" smtClean="0">
                <a:solidFill>
                  <a:srgbClr val="27252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sistemi</a:t>
            </a:r>
            <a:endParaRPr lang="en-US" sz="17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97689" y="6125925"/>
            <a:ext cx="10743336" cy="598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1"/>
              </a:lnSpc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Veteriner klinikleri için tasarlanmış bu sistem, modern veritabanı teknolojilerini kullanarak iş süreçlerini optimize eder ve veri güvenliğini sağlar.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4429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485</TotalTime>
  <Words>935</Words>
  <Application>Microsoft Office PowerPoint</Application>
  <PresentationFormat>Geniş ekran</PresentationFormat>
  <Paragraphs>140</Paragraphs>
  <Slides>27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Inter</vt:lpstr>
      <vt:lpstr>Microsoft Sans Serif</vt:lpstr>
      <vt:lpstr>Office Teması</vt:lpstr>
      <vt:lpstr>Veteriner Klinik Yönetim ve Stok Takip Sistemi</vt:lpstr>
      <vt:lpstr>Sorun: Veteriner Kliniklerinin Karşılaştığı Zorluklar </vt:lpstr>
      <vt:lpstr>Sorun: Veteriner Kliniklerinin Karşılaştığı Zorluklar </vt:lpstr>
      <vt:lpstr>Sorun: Veteriner Kliniklerinin Karşılaştığı Zorluklar </vt:lpstr>
      <vt:lpstr>Sorun: Veteriner Kliniklerinin Karşılaştığı Zorluklar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Veteriner Klinik Yönetim ve Stok Takip Sistemi</dc:title>
  <dc:creator>PC KULLANICISI</dc:creator>
  <cp:lastModifiedBy>PC KULLANICISI</cp:lastModifiedBy>
  <cp:revision>32</cp:revision>
  <dcterms:created xsi:type="dcterms:W3CDTF">2026-04-28T13:22:35Z</dcterms:created>
  <dcterms:modified xsi:type="dcterms:W3CDTF">2026-04-29T09:30:00Z</dcterms:modified>
</cp:coreProperties>
</file>